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E3A5F"/>
                </a:solidFill>
                <a:latin typeface="Segoe UI"/>
              </a:rPr>
              <a:t>Intake Agent —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From any intake channel  →  an autonomous, auditable agent  →  submission to your end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Segoe UI"/>
              </a:rPr>
              <a:t>INTAKE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24128"/>
            <a:ext cx="6309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Segoe UI"/>
              </a:rPr>
              <a:t>THE INTAKE AGENT — AUTONOMOUS, AUDITABLE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024128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Segoe UI"/>
              </a:rPr>
              <a:t>SUBMISSION TO END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1920240" cy="603504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E3A5F"/>
                </a:solidFill>
                <a:latin typeface="Segoe UI"/>
              </a:rPr>
              <a:t>📠  Fax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Referral packages — 3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130552"/>
            <a:ext cx="1920240" cy="603504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E3A5F"/>
                </a:solidFill>
                <a:latin typeface="Segoe UI"/>
              </a:rPr>
              <a:t>📧  Email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Referrals &amp; CM replies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843784"/>
            <a:ext cx="1920240" cy="603504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E3A5F"/>
                </a:solidFill>
                <a:latin typeface="Segoe UI"/>
              </a:rPr>
              <a:t>📞  Voice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Live AI intake line, 24/7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557016"/>
            <a:ext cx="1920240" cy="603504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E3A5F"/>
                </a:solidFill>
                <a:latin typeface="Segoe UI"/>
              </a:rPr>
              <a:t>🗂  Portal / Upload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Payer &amp; partner portals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04288" y="2606040"/>
            <a:ext cx="402336" cy="5029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162288" y="2606040"/>
            <a:ext cx="402336" cy="5029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1325880"/>
            <a:ext cx="6309360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1225296"/>
            <a:ext cx="3108960" cy="2743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AGENT 1 · INTAKE — BUILT &amp;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2" y="1810512"/>
            <a:ext cx="950976" cy="1207008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64748B"/>
                </a:solidFill>
                <a:latin typeface="Segoe UI"/>
              </a:rPr>
              <a:t>STEP 1</a:t>
            </a:r>
          </a:p>
          <a:p>
            <a:pPr algn="ctr"/>
            <a:r>
              <a:rPr sz="1050" b="1">
                <a:solidFill>
                  <a:srgbClr val="1E3A5F"/>
                </a:solidFill>
                <a:latin typeface="Segoe UI"/>
              </a:rPr>
              <a:t>Capture &amp; Read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Reads every page or answers the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810512"/>
            <a:ext cx="105155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27348" y="1810512"/>
            <a:ext cx="950976" cy="1207008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64748B"/>
                </a:solidFill>
                <a:latin typeface="Segoe UI"/>
              </a:rPr>
              <a:t>STEP 2</a:t>
            </a:r>
          </a:p>
          <a:p>
            <a:pPr algn="ctr"/>
            <a:r>
              <a:rPr sz="1050" b="1">
                <a:solidFill>
                  <a:srgbClr val="1E3A5F"/>
                </a:solidFill>
                <a:latin typeface="Segoe UI"/>
              </a:rPr>
              <a:t>Extract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25 fields, each traced to its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0036" y="1810512"/>
            <a:ext cx="105155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46904" y="1810512"/>
            <a:ext cx="950976" cy="1207008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64748B"/>
                </a:solidFill>
                <a:latin typeface="Segoe UI"/>
              </a:rPr>
              <a:t>STEP 3</a:t>
            </a:r>
          </a:p>
          <a:p>
            <a:pPr algn="ctr"/>
            <a:r>
              <a:rPr sz="1050" b="1">
                <a:solidFill>
                  <a:srgbClr val="1E3A5F"/>
                </a:solidFill>
                <a:latin typeface="Segoe UI"/>
              </a:rPr>
              <a:t>Validate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Checked vs. cited CMS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1810512"/>
            <a:ext cx="105155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66460" y="1810512"/>
            <a:ext cx="950976" cy="1207008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64748B"/>
                </a:solidFill>
                <a:latin typeface="Segoe UI"/>
              </a:rPr>
              <a:t>STEP 4</a:t>
            </a:r>
          </a:p>
          <a:p>
            <a:pPr algn="ctr"/>
            <a:r>
              <a:rPr sz="1050" b="1">
                <a:solidFill>
                  <a:srgbClr val="1E3A5F"/>
                </a:solidFill>
                <a:latin typeface="Segoe UI"/>
              </a:rPr>
              <a:t>Reason &amp; Score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Resolves conflicts; scores 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9148" y="1810512"/>
            <a:ext cx="105155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86016" y="1810512"/>
            <a:ext cx="950976" cy="1207008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64748B"/>
                </a:solidFill>
                <a:latin typeface="Segoe UI"/>
              </a:rPr>
              <a:t>STEP 5</a:t>
            </a:r>
          </a:p>
          <a:p>
            <a:pPr algn="ctr"/>
            <a:r>
              <a:rPr sz="1050" b="1">
                <a:solidFill>
                  <a:srgbClr val="1E3A5F"/>
                </a:solidFill>
                <a:latin typeface="Segoe UI"/>
              </a:rPr>
              <a:t>Gaps &amp; Outreach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Email then voice to the case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1810512"/>
            <a:ext cx="105155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5572" y="1810512"/>
            <a:ext cx="950976" cy="1207008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700" b="1">
                <a:solidFill>
                  <a:srgbClr val="64748B"/>
                </a:solidFill>
                <a:latin typeface="Segoe UI"/>
              </a:rPr>
              <a:t>STEP 6</a:t>
            </a:r>
          </a:p>
          <a:p>
            <a:pPr algn="ctr"/>
            <a:r>
              <a:rPr sz="1050" b="1">
                <a:solidFill>
                  <a:srgbClr val="1E3A5F"/>
                </a:solidFill>
                <a:latin typeface="Segoe UI"/>
              </a:rPr>
              <a:t>Route-Ready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Complete record + audit trail, locked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07792" y="3163824"/>
            <a:ext cx="5980176" cy="36576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B45309"/>
                </a:solidFill>
                <a:latin typeface="Segoe UI"/>
              </a:rPr>
              <a:t>👤  Human in the loop — low confidence escalates to a specialist; a person approves every outbound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7792" y="3611880"/>
            <a:ext cx="2944368" cy="457200"/>
          </a:xfrm>
          <a:prstGeom prst="roundRect">
            <a:avLst/>
          </a:prstGeom>
          <a:solidFill>
            <a:srgbClr val="F5F3FF"/>
          </a:solidFill>
          <a:ln w="1587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7C3AED"/>
                </a:solidFill>
                <a:latin typeface="Segoe UI"/>
              </a:rPr>
              <a:t>🕸  OWL Knowledge Graph</a:t>
            </a:r>
          </a:p>
          <a:p>
            <a:pPr algn="ctr"/>
            <a:r>
              <a:rPr sz="750" b="0">
                <a:solidFill>
                  <a:srgbClr val="64748B"/>
                </a:solidFill>
                <a:latin typeface="Segoe UI"/>
              </a:rPr>
              <a:t>24 deterministic, CMS-cited rules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611880"/>
            <a:ext cx="2944368" cy="4572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1E3A5F"/>
                </a:solidFill>
                <a:latin typeface="Segoe UI"/>
              </a:rPr>
              <a:t>🔎  Audit trail</a:t>
            </a:r>
          </a:p>
          <a:p>
            <a:pPr algn="ctr"/>
            <a:r>
              <a:rPr sz="750" b="0">
                <a:solidFill>
                  <a:srgbClr val="64748B"/>
                </a:solidFill>
                <a:latin typeface="Segoe UI"/>
              </a:rPr>
              <a:t>Every read, rule, decision &amp; action logged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1554480"/>
            <a:ext cx="2240280" cy="749808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5803D"/>
                </a:solidFill>
                <a:latin typeface="Segoe UI"/>
              </a:rPr>
              <a:t>📅  Scheduling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Vendor dispatch &amp; appointments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468880"/>
            <a:ext cx="2240280" cy="749808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5803D"/>
                </a:solidFill>
                <a:latin typeface="Segoe UI"/>
              </a:rPr>
              <a:t>🏦  Billing / Claims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Claim generation &amp; ERA posting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3383280"/>
            <a:ext cx="2240280" cy="749808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5803D"/>
                </a:solidFill>
                <a:latin typeface="Segoe UI"/>
              </a:rPr>
              <a:t>🏥  Payer / EHR</a:t>
            </a:r>
          </a:p>
          <a:p>
            <a:pPr algn="ctr"/>
            <a:r>
              <a:rPr sz="850" b="0">
                <a:solidFill>
                  <a:srgbClr val="64748B"/>
                </a:solidFill>
                <a:latin typeface="Segoe UI"/>
              </a:rPr>
              <a:t>Auth, eligibility, 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4572000"/>
            <a:ext cx="11567160" cy="14630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40579" y="4471416"/>
            <a:ext cx="2926080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ANALYTICS &amp; INSIGHTS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736592"/>
            <a:ext cx="11567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0D9488"/>
                </a:solidFill>
                <a:latin typeface="Segoe UI"/>
              </a:rPr>
              <a:t>Observes every episode across the whole flow — a live management view, not a separate report.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074920"/>
            <a:ext cx="1847088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D9488"/>
                </a:solidFill>
                <a:latin typeface="Segoe UI"/>
              </a:rPr>
              <a:t>Throughput &amp; Latency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Volume, avg &amp; p95 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95728" y="5074920"/>
            <a:ext cx="1847088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D9488"/>
                </a:solidFill>
                <a:latin typeface="Segoe UI"/>
              </a:rPr>
              <a:t>Auto-Route Rate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% resolved, no human touch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88536" y="5074920"/>
            <a:ext cx="1847088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D9488"/>
                </a:solidFill>
                <a:latin typeface="Segoe UI"/>
              </a:rPr>
              <a:t>Escalation Rate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% to a specialist &amp; why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1343" y="5074920"/>
            <a:ext cx="1847088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D9488"/>
                </a:solidFill>
                <a:latin typeface="Segoe UI"/>
              </a:rPr>
              <a:t>Confidence &amp; KG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Avg conf, rules fired/flagged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74152" y="5074920"/>
            <a:ext cx="1847088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D9488"/>
                </a:solidFill>
                <a:latin typeface="Segoe UI"/>
              </a:rPr>
              <a:t>Top Gaps &amp; SLA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Common missing fields, jurisdiction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66960" y="5074920"/>
            <a:ext cx="1847088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>
                <a:solidFill>
                  <a:srgbClr val="0D9488"/>
                </a:solidFill>
                <a:latin typeface="Segoe UI"/>
              </a:rPr>
              <a:t>Cost per Referral</a:t>
            </a:r>
          </a:p>
          <a:p>
            <a:pPr algn="ctr"/>
            <a:r>
              <a:rPr sz="780" b="0">
                <a:solidFill>
                  <a:srgbClr val="64748B"/>
                </a:solidFill>
                <a:latin typeface="Segoe UI"/>
              </a:rPr>
              <a:t>Live token + infra at volume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144768"/>
            <a:ext cx="11612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Connects via API, RPA, or file — adapts to your platform. Your data stays in your environment.   ·   Intake is Agent 1 of an 8-agent value chain, referral to payment.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